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in Robert" userId="40fe8d74eba06213" providerId="LiveId" clId="{9641E7B4-14E2-42E9-8C84-D2BB91F59FE7}"/>
    <pc:docChg chg="custSel delSld modSld">
      <pc:chgData name="Albin Robert" userId="40fe8d74eba06213" providerId="LiveId" clId="{9641E7B4-14E2-42E9-8C84-D2BB91F59FE7}" dt="2026-06-30T07:38:47.892" v="87" actId="20577"/>
      <pc:docMkLst>
        <pc:docMk/>
      </pc:docMkLst>
      <pc:sldChg chg="modSp mod">
        <pc:chgData name="Albin Robert" userId="40fe8d74eba06213" providerId="LiveId" clId="{9641E7B4-14E2-42E9-8C84-D2BB91F59FE7}" dt="2026-06-30T07:33:32.788" v="14" actId="20577"/>
        <pc:sldMkLst>
          <pc:docMk/>
          <pc:sldMk cId="0" sldId="256"/>
        </pc:sldMkLst>
        <pc:spChg chg="mod">
          <ac:chgData name="Albin Robert" userId="40fe8d74eba06213" providerId="LiveId" clId="{9641E7B4-14E2-42E9-8C84-D2BB91F59FE7}" dt="2026-06-30T07:33:32.788" v="14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Albin Robert" userId="40fe8d74eba06213" providerId="LiveId" clId="{9641E7B4-14E2-42E9-8C84-D2BB91F59FE7}" dt="2026-06-30T07:33:54.069" v="15" actId="2696"/>
        <pc:sldMkLst>
          <pc:docMk/>
          <pc:sldMk cId="0" sldId="263"/>
        </pc:sldMkLst>
      </pc:sldChg>
      <pc:sldChg chg="delSp modSp mod">
        <pc:chgData name="Albin Robert" userId="40fe8d74eba06213" providerId="LiveId" clId="{9641E7B4-14E2-42E9-8C84-D2BB91F59FE7}" dt="2026-06-30T07:36:31.601" v="50" actId="478"/>
        <pc:sldMkLst>
          <pc:docMk/>
          <pc:sldMk cId="0" sldId="264"/>
        </pc:sldMkLst>
        <pc:spChg chg="mod">
          <ac:chgData name="Albin Robert" userId="40fe8d74eba06213" providerId="LiveId" clId="{9641E7B4-14E2-42E9-8C84-D2BB91F59FE7}" dt="2026-06-30T07:36:16.518" v="48" actId="20577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Albin Robert" userId="40fe8d74eba06213" providerId="LiveId" clId="{9641E7B4-14E2-42E9-8C84-D2BB91F59FE7}" dt="2026-06-30T07:36:31.601" v="50" actId="478"/>
          <ac:spMkLst>
            <pc:docMk/>
            <pc:sldMk cId="0" sldId="264"/>
            <ac:spMk id="5" creationId="{00000000-0000-0000-0000-000000000000}"/>
          </ac:spMkLst>
        </pc:spChg>
        <pc:graphicFrameChg chg="modGraphic">
          <ac:chgData name="Albin Robert" userId="40fe8d74eba06213" providerId="LiveId" clId="{9641E7B4-14E2-42E9-8C84-D2BB91F59FE7}" dt="2026-06-30T07:36:13.259" v="28" actId="20577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Albin Robert" userId="40fe8d74eba06213" providerId="LiveId" clId="{9641E7B4-14E2-42E9-8C84-D2BB91F59FE7}" dt="2026-06-30T07:38:47.892" v="87" actId="20577"/>
        <pc:sldMkLst>
          <pc:docMk/>
          <pc:sldMk cId="0" sldId="266"/>
        </pc:sldMkLst>
        <pc:spChg chg="mod">
          <ac:chgData name="Albin Robert" userId="40fe8d74eba06213" providerId="LiveId" clId="{9641E7B4-14E2-42E9-8C84-D2BB91F59FE7}" dt="2026-06-30T07:38:47.892" v="87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Albin Robert" userId="40fe8d74eba06213" providerId="LiveId" clId="{9641E7B4-14E2-42E9-8C84-D2BB91F59FE7}" dt="2026-06-30T07:37:31.074" v="62" actId="20577"/>
        <pc:sldMkLst>
          <pc:docMk/>
          <pc:sldMk cId="0" sldId="268"/>
        </pc:sldMkLst>
        <pc:spChg chg="mod">
          <ac:chgData name="Albin Robert" userId="40fe8d74eba06213" providerId="LiveId" clId="{9641E7B4-14E2-42E9-8C84-D2BB91F59FE7}" dt="2026-06-30T07:37:31.074" v="62" actId="20577"/>
          <ac:spMkLst>
            <pc:docMk/>
            <pc:sldMk cId="0" sldId="268"/>
            <ac:spMk id="11" creationId="{00000000-0000-0000-0000-000000000000}"/>
          </ac:spMkLst>
        </pc:spChg>
      </pc:sldChg>
      <pc:sldChg chg="modSp mod">
        <pc:chgData name="Albin Robert" userId="40fe8d74eba06213" providerId="LiveId" clId="{9641E7B4-14E2-42E9-8C84-D2BB91F59FE7}" dt="2026-06-30T07:37:46.762" v="65" actId="20577"/>
        <pc:sldMkLst>
          <pc:docMk/>
          <pc:sldMk cId="0" sldId="269"/>
        </pc:sldMkLst>
        <pc:spChg chg="mod">
          <ac:chgData name="Albin Robert" userId="40fe8d74eba06213" providerId="LiveId" clId="{9641E7B4-14E2-42E9-8C84-D2BB91F59FE7}" dt="2026-06-30T07:37:46.762" v="65" actId="2057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78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 Prediction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| End-to-End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26.5% monthly churn rate driving major revenue loss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at-risk customers proactively using supervised ML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7,043 customers | 20 features | IBM Telco public dataset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18-phase CRISP-DM pipeline -- EDA to Modelling to XAI to Deployment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(Baseline) | ROC-AUC = 0.8465 on held-out test set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Contract type and tenure are the strongest churn drivers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Data Understanding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Business Problem
</a:t>
            </a:r>
            <a:r>
              <a:rPr lang="en-US" sz="1200" dirty="0">
                <a:solidFill>
                  <a:srgbClr val="1A1A1A"/>
                </a:solidFill>
              </a:rPr>
              <a:t>Customers churn monthly; reactive retention is too late and too costly.
</a:t>
            </a:r>
            <a:r>
              <a:rPr lang="en-US" sz="1400" b="1" dirty="0">
                <a:solidFill>
                  <a:srgbClr val="21295C"/>
                </a:solidFill>
              </a:rPr>
              <a:t>Target Variable
</a:t>
            </a:r>
            <a:r>
              <a:rPr lang="en-US" sz="1200" dirty="0">
                <a:solidFill>
                  <a:srgbClr val="1A1A1A"/>
                </a:solidFill>
              </a:rPr>
              <a:t>Churn (Yes/No) -- binary classification. Base churn rate: 26.5%
</a:t>
            </a:r>
            <a:r>
              <a:rPr lang="en-US" sz="1400" b="1" dirty="0">
                <a:solidFill>
                  <a:srgbClr val="21295C"/>
                </a:solidFill>
              </a:rPr>
              <a:t>Success Criteria
</a:t>
            </a:r>
            <a:r>
              <a:rPr lang="en-US" sz="1200" dirty="0">
                <a:solidFill>
                  <a:srgbClr val="1A1A1A"/>
                </a:solidFill>
              </a:rPr>
              <a:t>ROC-AUC &gt;= 0.85 | Recall &gt;= 0.75 | Actionable, explainable insights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32588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D7E9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6692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187452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rows x 21 columns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numerical features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categorical features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missing values (TotalCharges)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records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for class balance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Key Insights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474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Month-to-month: 42% churn | 2-year: only 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0-12 months: 45% churn | 24+ months: &lt;15%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check: 45% | Auto-pay: 15-17%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Optic churns ~2x more than DSL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Security + No Support = highest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5-8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Correlation, Feature Engineering &amp; Prep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found: TotalCharges &lt;-&gt; tenure (|r| &gt; 0.80)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show VIF &lt; 5 (Good) -- no severe multicollinearity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features engineered: Avg_Monthly_Spend, Long_Term_Customer,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Senior_Citizen_Flag, Has_Multiple_Services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Label Encoding (binary) + One-Hot Encoding (multi-class)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 applied | Final shape: 7,043 x 34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80% train / 20% test, stratified by Churn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Handling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412480" cy="20116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(no treatment)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(selected)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8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8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selected: highest recall (0.786) -- catching churners is the business priority.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 (10 Classifiers)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589520" cy="3520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E8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12 (PIPELINE-BASED CV)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852946"/>
              </p:ext>
            </p:extLst>
          </p:nvPr>
        </p:nvGraphicFramePr>
        <p:xfrm>
          <a:off x="548640" y="1325880"/>
          <a:ext cx="4480560" cy="3108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15 -- BASELINE VS TUNED, RANKED BY TEST ROC-AUC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Comparison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77240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E8C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 (Baseline)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-- SHAP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2085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Explainer Choice
</a:t>
            </a:r>
            <a:r>
              <a:rPr lang="en-US" sz="1200" dirty="0">
                <a:solidFill>
                  <a:srgbClr val="1A1A1A"/>
                </a:solidFill>
              </a:rPr>
              <a:t>shap.LinearExplainer used since the best model is </a:t>
            </a:r>
            <a:r>
              <a:rPr lang="en-US" sz="1200">
                <a:solidFill>
                  <a:srgbClr val="1A1A1A"/>
                </a:solidFill>
              </a:rPr>
              <a:t>Logistic Regression.</a:t>
            </a:r>
            <a:r>
              <a:rPr lang="en-US" sz="1200" dirty="0">
                <a:solidFill>
                  <a:srgbClr val="1A1A1A"/>
                </a:solidFill>
              </a:rPr>
              <a:t>
</a:t>
            </a:r>
            <a:r>
              <a:rPr lang="en-US" sz="1400" b="1" dirty="0">
                <a:solidFill>
                  <a:srgbClr val="21295C"/>
                </a:solidFill>
              </a:rPr>
              <a:t>Background Dataset
</a:t>
            </a:r>
            <a:r>
              <a:rPr lang="en-US" sz="1200" dirty="0">
                <a:solidFill>
                  <a:srgbClr val="1A1A1A"/>
                </a:solidFill>
              </a:rPr>
              <a:t>X_train (real, un-resampled data) used as baseline -- not SMOTE data -- so SHAP values reflect deviation from the true ~26% churn population, not an artificial 50/50 world.
</a:t>
            </a:r>
            <a:r>
              <a:rPr lang="en-US" sz="1400" b="1" dirty="0">
                <a:solidFill>
                  <a:srgbClr val="21295C"/>
                </a:solidFill>
              </a:rPr>
              <a:t>Top Drivers (by SHAP magnitude)
</a:t>
            </a:r>
            <a:r>
              <a:rPr lang="en-US" sz="1200" dirty="0">
                <a:solidFill>
                  <a:srgbClr val="1A1A1A"/>
                </a:solidFill>
              </a:rPr>
              <a:t>Contract type, tenure, MonthlyCharges, OnlineSecurity, InternetService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model for weekly customer risk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all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upgrade campaign (15% off for 1-yr commit)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42% month-to-month churners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OnlineSecurity trial for at-risk Fibre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Fibre churn by 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discount for switching to auto-pay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45% -&gt; 17% payment-risk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loyalty programme for long-tenure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24+ month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Re-price Fibre Optic + add Fibre Lite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expectation-vs-value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0.8465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(Test)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6324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577840" y="2084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74980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(Baseline) -- selected on real test-set performance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models trained and compared; 7 tuned via pipeline-based GridSearchCV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delivered using the correct linear-model explainer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phases complete: 40+ reports, plots, and saved model artifacts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impact: ~$546K annual revenue saved if churn cut by 10%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 | End-to-End ML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 |  ROC-AUC: 0.8465  |  Recall: 0.786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893</Words>
  <Application>Microsoft Office PowerPoint</Application>
  <PresentationFormat>On-screen Show (16:9)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Prediction</dc:title>
  <dc:subject>PptxGenJS Presentation</dc:subject>
  <dc:creator>Albin Robert</dc:creator>
  <cp:lastModifiedBy>Albin Robert</cp:lastModifiedBy>
  <cp:revision>1</cp:revision>
  <dcterms:created xsi:type="dcterms:W3CDTF">2026-06-30T07:29:04Z</dcterms:created>
  <dcterms:modified xsi:type="dcterms:W3CDTF">2026-06-30T07:38:50Z</dcterms:modified>
</cp:coreProperties>
</file>